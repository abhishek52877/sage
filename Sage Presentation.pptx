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5"/>
  </p:notesMasterIdLst>
  <p:handoutMasterIdLst>
    <p:handoutMasterId r:id="rId16"/>
  </p:handoutMasterIdLst>
  <p:sldIdLst>
    <p:sldId id="312" r:id="rId5"/>
    <p:sldId id="304" r:id="rId6"/>
    <p:sldId id="323" r:id="rId7"/>
    <p:sldId id="281" r:id="rId8"/>
    <p:sldId id="324" r:id="rId9"/>
    <p:sldId id="282" r:id="rId10"/>
    <p:sldId id="314" r:id="rId11"/>
    <p:sldId id="315" r:id="rId12"/>
    <p:sldId id="317" r:id="rId13"/>
    <p:sldId id="297"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C4E9"/>
    <a:srgbClr val="202C8F"/>
    <a:srgbClr val="DF8C8C"/>
    <a:srgbClr val="FDFBF6"/>
    <a:srgbClr val="F5CDCE"/>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5388" autoAdjust="0"/>
  </p:normalViewPr>
  <p:slideViewPr>
    <p:cSldViewPr snapToGrid="0" snapToObjects="1">
      <p:cViewPr varScale="1">
        <p:scale>
          <a:sx n="93" d="100"/>
          <a:sy n="93" d="100"/>
        </p:scale>
        <p:origin x="211" y="77"/>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4816A-0A8C-33FD-0598-D12A75EEB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DE152-E189-610D-CEC0-B6F1BE1C7C0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0547936-51A8-0DE6-B92E-A99B37499D7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708898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emro.who.int/emhj-volume-27-2021/volume-27-issue-7/inappropriate-hospital-stays-and-association-with-lack-of-homecare-services.html" TargetMode="External"/><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hyperlink" Target="https://www.theguardian.com/society/2025/dec/14/hospitals-in-england-face-dangerous-winter-overcrowding-due-to-discharge-delays" TargetMode="External"/><Relationship Id="rId4" Type="http://schemas.openxmlformats.org/officeDocument/2006/relationships/hyperlink" Target="https://www.commonwealthfund.org/publications/other-publication/2005/sep/preventing-hospital-overcrowdin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hyperlink" Target="https://sageaui.vercel.app/"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687518" y="-887945"/>
            <a:ext cx="6392421" cy="3831221"/>
          </a:xfrm>
        </p:spPr>
        <p:txBody>
          <a:bodyPr anchor="ctr"/>
          <a:lstStyle/>
          <a:p>
            <a:r>
              <a:rPr lang="en-IN" sz="4000" dirty="0"/>
              <a:t>SAGE</a:t>
            </a:r>
            <a:br>
              <a:rPr lang="en-IN" dirty="0"/>
            </a:br>
            <a:r>
              <a:rPr lang="en-IN" sz="2400" dirty="0">
                <a:solidFill>
                  <a:schemeClr val="accent1"/>
                </a:solidFill>
              </a:rPr>
              <a:t>Smart Autonomous Hospital Digital Twin</a:t>
            </a:r>
            <a:br>
              <a:rPr lang="en-IN" dirty="0"/>
            </a:br>
            <a:r>
              <a:rPr lang="en-IN" sz="1400" b="0" dirty="0"/>
              <a:t>Predicting Tomorrow's Emergencies, Today</a:t>
            </a:r>
            <a:endParaRPr lang="en-US" sz="1400" dirty="0"/>
          </a:p>
        </p:txBody>
      </p:sp>
      <p:sp>
        <p:nvSpPr>
          <p:cNvPr id="3" name="TextBox 2">
            <a:extLst>
              <a:ext uri="{FF2B5EF4-FFF2-40B4-BE49-F238E27FC236}">
                <a16:creationId xmlns:a16="http://schemas.microsoft.com/office/drawing/2014/main" id="{C8D837F9-961A-5362-FC87-C847D3F56F13}"/>
              </a:ext>
            </a:extLst>
          </p:cNvPr>
          <p:cNvSpPr txBox="1"/>
          <p:nvPr/>
        </p:nvSpPr>
        <p:spPr>
          <a:xfrm>
            <a:off x="1714500" y="4653643"/>
            <a:ext cx="5029200" cy="1631216"/>
          </a:xfrm>
          <a:prstGeom prst="rect">
            <a:avLst/>
          </a:prstGeom>
          <a:noFill/>
        </p:spPr>
        <p:txBody>
          <a:bodyPr wrap="square" rtlCol="0">
            <a:spAutoFit/>
          </a:bodyPr>
          <a:lstStyle/>
          <a:p>
            <a:r>
              <a:rPr lang="en-US" sz="2000" dirty="0">
                <a:solidFill>
                  <a:schemeClr val="accent1"/>
                </a:solidFill>
              </a:rPr>
              <a:t>Team- TAURUS</a:t>
            </a:r>
          </a:p>
          <a:p>
            <a:r>
              <a:rPr lang="en-US" sz="2000" dirty="0">
                <a:solidFill>
                  <a:schemeClr val="accent1"/>
                </a:solidFill>
              </a:rPr>
              <a:t>College- BMSIT&amp;M</a:t>
            </a:r>
          </a:p>
          <a:p>
            <a:r>
              <a:rPr lang="en-US" sz="2000" dirty="0">
                <a:solidFill>
                  <a:schemeClr val="accent1"/>
                </a:solidFill>
              </a:rPr>
              <a:t>Members- Abhishek N</a:t>
            </a:r>
          </a:p>
          <a:p>
            <a:r>
              <a:rPr lang="en-US" sz="2000" dirty="0">
                <a:solidFill>
                  <a:schemeClr val="accent1"/>
                </a:solidFill>
              </a:rPr>
              <a:t>                  Sanjana B</a:t>
            </a:r>
          </a:p>
          <a:p>
            <a:r>
              <a:rPr lang="en-US" sz="2000" dirty="0">
                <a:solidFill>
                  <a:schemeClr val="accent1"/>
                </a:solidFill>
              </a:rPr>
              <a:t>                  Bhuvan Mulk</a:t>
            </a:r>
            <a:r>
              <a:rPr lang="en-US" sz="2000" b="1" dirty="0">
                <a:solidFill>
                  <a:schemeClr val="accent1"/>
                </a:solidFill>
              </a:rPr>
              <a:t>a</a:t>
            </a:r>
            <a:endParaRPr lang="en-IN" sz="2000" b="1" dirty="0">
              <a:solidFill>
                <a:schemeClr val="accent1"/>
              </a:solidFill>
            </a:endParaRPr>
          </a:p>
        </p:txBody>
      </p:sp>
      <p:sp>
        <p:nvSpPr>
          <p:cNvPr id="4" name="TextBox 3">
            <a:extLst>
              <a:ext uri="{FF2B5EF4-FFF2-40B4-BE49-F238E27FC236}">
                <a16:creationId xmlns:a16="http://schemas.microsoft.com/office/drawing/2014/main" id="{6ABD0132-7017-B24A-08D6-B46DD0036FBC}"/>
              </a:ext>
            </a:extLst>
          </p:cNvPr>
          <p:cNvSpPr txBox="1"/>
          <p:nvPr/>
        </p:nvSpPr>
        <p:spPr>
          <a:xfrm>
            <a:off x="6319158" y="5469251"/>
            <a:ext cx="6204857" cy="1200329"/>
          </a:xfrm>
          <a:prstGeom prst="rect">
            <a:avLst/>
          </a:prstGeom>
          <a:noFill/>
        </p:spPr>
        <p:txBody>
          <a:bodyPr wrap="square" rtlCol="0">
            <a:spAutoFit/>
          </a:bodyPr>
          <a:lstStyle/>
          <a:p>
            <a:r>
              <a:rPr lang="en-US" dirty="0">
                <a:solidFill>
                  <a:schemeClr val="accent1"/>
                </a:solidFill>
              </a:rPr>
              <a:t>Track 01</a:t>
            </a:r>
          </a:p>
          <a:p>
            <a:r>
              <a:rPr lang="en-IN" b="1" cap="all" dirty="0">
                <a:solidFill>
                  <a:schemeClr val="accent1"/>
                </a:solidFill>
              </a:rPr>
              <a:t>AI &amp; Intelligent Digital Twins</a:t>
            </a:r>
          </a:p>
          <a:p>
            <a:br>
              <a:rPr lang="en-IN" dirty="0"/>
            </a:br>
            <a:endParaRPr lang="en-IN"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1528970" y="692943"/>
            <a:ext cx="9875463" cy="999746"/>
          </a:xfrm>
        </p:spPr>
        <p:txBody>
          <a:bodyPr/>
          <a:lstStyle/>
          <a:p>
            <a:r>
              <a:rPr lang="en-US" dirty="0"/>
              <a:t>The hospital crisis </a:t>
            </a:r>
          </a:p>
        </p:txBody>
      </p:sp>
      <p:sp>
        <p:nvSpPr>
          <p:cNvPr id="7" name="Content Placeholder 6">
            <a:extLst>
              <a:ext uri="{FF2B5EF4-FFF2-40B4-BE49-F238E27FC236}">
                <a16:creationId xmlns:a16="http://schemas.microsoft.com/office/drawing/2014/main" id="{2D61FC4C-85EC-F687-5991-6762911E75D3}"/>
              </a:ext>
            </a:extLst>
          </p:cNvPr>
          <p:cNvSpPr>
            <a:spLocks noGrp="1"/>
          </p:cNvSpPr>
          <p:nvPr>
            <p:ph sz="half" idx="2"/>
          </p:nvPr>
        </p:nvSpPr>
        <p:spPr>
          <a:xfrm>
            <a:off x="1285103" y="2303028"/>
            <a:ext cx="10363199" cy="4229577"/>
          </a:xfrm>
        </p:spPr>
        <p:txBody>
          <a:bodyPr>
            <a:normAutofit fontScale="70000" lnSpcReduction="20000"/>
          </a:bodyPr>
          <a:lstStyle/>
          <a:p>
            <a:r>
              <a:rPr lang="en-US" sz="2000" b="1" dirty="0"/>
              <a:t>1. 10–30% of hospital capacity is wasted</a:t>
            </a:r>
          </a:p>
          <a:p>
            <a:r>
              <a:rPr lang="en-US" sz="2000" dirty="0"/>
              <a:t>A significant portion of hospital beds are occupied unnecessarily or due to delayed discharges, reducing availability for critical patients.</a:t>
            </a:r>
            <a:br>
              <a:rPr lang="en-US" sz="2000" dirty="0"/>
            </a:br>
            <a:r>
              <a:rPr lang="en-US" sz="2000" dirty="0"/>
              <a:t>This directly leads to </a:t>
            </a:r>
            <a:r>
              <a:rPr lang="en-US" sz="2000" b="1" dirty="0"/>
              <a:t>denied or delayed treatment</a:t>
            </a:r>
            <a:r>
              <a:rPr lang="en-US" sz="2000" dirty="0"/>
              <a:t> despite physical infrastructure being present.</a:t>
            </a:r>
            <a:br>
              <a:rPr lang="en-US" sz="2000" dirty="0"/>
            </a:br>
            <a:r>
              <a:rPr lang="en-US" sz="2000" dirty="0">
                <a:solidFill>
                  <a:srgbClr val="AAC4E9"/>
                </a:solidFill>
              </a:rPr>
              <a:t>🔗 </a:t>
            </a:r>
            <a:r>
              <a:rPr lang="en-US" sz="2000" dirty="0">
                <a:solidFill>
                  <a:srgbClr val="AAC4E9"/>
                </a:solidFill>
                <a:hlinkClick r:id="rId3">
                  <a:extLst>
                    <a:ext uri="{A12FA001-AC4F-418D-AE19-62706E023703}">
                      <ahyp:hlinkClr xmlns:ahyp="http://schemas.microsoft.com/office/drawing/2018/hyperlinkcolor" val="tx"/>
                    </a:ext>
                  </a:extLst>
                </a:hlinkClick>
              </a:rPr>
              <a:t>https://www.emro.who.int/emhj-volume-27-2021/volume-27-issue-7/inappropriate-hospital-stays-and-association-with-lack-of-homecare-services.html</a:t>
            </a:r>
            <a:endParaRPr lang="en-US" sz="2000" dirty="0">
              <a:solidFill>
                <a:srgbClr val="AAC4E9"/>
              </a:solidFill>
            </a:endParaRPr>
          </a:p>
          <a:p>
            <a:pPr marL="0" indent="0">
              <a:buNone/>
            </a:pPr>
            <a:br>
              <a:rPr lang="en-US" sz="2000" dirty="0"/>
            </a:br>
            <a:endParaRPr lang="en-US" sz="2000" dirty="0"/>
          </a:p>
          <a:p>
            <a:r>
              <a:rPr lang="en-US" sz="2000" b="1" dirty="0"/>
              <a:t>2. 20%+ patients face critical delays due to overcrowding</a:t>
            </a:r>
          </a:p>
          <a:p>
            <a:r>
              <a:rPr lang="en-US" sz="2000" dirty="0"/>
              <a:t>Overcrowded hospitals cause long wait times (often 8+ hours), delaying timely treatment and worsening patient outcomes.</a:t>
            </a:r>
            <a:br>
              <a:rPr lang="en-US" sz="2000" dirty="0"/>
            </a:br>
            <a:r>
              <a:rPr lang="en-US" sz="2000" dirty="0"/>
              <a:t>Even advanced healthcare systems report </a:t>
            </a:r>
            <a:r>
              <a:rPr lang="en-US" sz="2000" b="1" dirty="0"/>
              <a:t>1 in 5 patients not treated on time</a:t>
            </a:r>
            <a:r>
              <a:rPr lang="en-US" sz="2000" dirty="0"/>
              <a:t> due to flow inefficiencies.</a:t>
            </a:r>
            <a:br>
              <a:rPr lang="en-US" sz="2000" dirty="0"/>
            </a:br>
            <a:r>
              <a:rPr lang="en-US" sz="2000" dirty="0"/>
              <a:t>🔗 </a:t>
            </a:r>
            <a:r>
              <a:rPr lang="en-US" sz="2000" dirty="0">
                <a:solidFill>
                  <a:srgbClr val="AAC4E9"/>
                </a:solidFill>
                <a:hlinkClick r:id="rId4">
                  <a:extLst>
                    <a:ext uri="{A12FA001-AC4F-418D-AE19-62706E023703}">
                      <ahyp:hlinkClr xmlns:ahyp="http://schemas.microsoft.com/office/drawing/2018/hyperlinkcolor" val="tx"/>
                    </a:ext>
                  </a:extLst>
                </a:hlinkClick>
              </a:rPr>
              <a:t>https://www.commonwealthfund.org/publications/other-publication/2005/sep/preventing-hospital-overcrowding</a:t>
            </a:r>
            <a:endParaRPr lang="en-US" sz="2000" dirty="0">
              <a:solidFill>
                <a:srgbClr val="AAC4E9"/>
              </a:solidFill>
            </a:endParaRPr>
          </a:p>
          <a:p>
            <a:pPr marL="0" indent="0">
              <a:buNone/>
            </a:pPr>
            <a:br>
              <a:rPr lang="en-US" sz="2000" dirty="0"/>
            </a:br>
            <a:endParaRPr lang="en-US" sz="2000" dirty="0"/>
          </a:p>
          <a:p>
            <a:r>
              <a:rPr lang="en-US" sz="2000" b="1" dirty="0"/>
              <a:t>3. Thousands of deaths linked to hospital flow failures</a:t>
            </a:r>
          </a:p>
          <a:p>
            <a:r>
              <a:rPr lang="en-US" sz="2000" dirty="0"/>
              <a:t>In England alone, over </a:t>
            </a:r>
            <a:r>
              <a:rPr lang="en-US" sz="2000" b="1" dirty="0"/>
              <a:t>16,600 deaths annually</a:t>
            </a:r>
            <a:r>
              <a:rPr lang="en-US" sz="2000" dirty="0"/>
              <a:t> are associated with long emergency wait times caused by system bottlenecks.</a:t>
            </a:r>
            <a:br>
              <a:rPr lang="en-US" sz="2000" dirty="0"/>
            </a:br>
            <a:r>
              <a:rPr lang="en-US" sz="2000" dirty="0"/>
              <a:t>These are largely due to </a:t>
            </a:r>
            <a:r>
              <a:rPr lang="en-US" sz="2000" b="1" dirty="0"/>
              <a:t>poor patient flow, bed management, and discharge inefficiencies—not lack of medicine or doctors</a:t>
            </a:r>
            <a:r>
              <a:rPr lang="en-US" sz="2000" dirty="0"/>
              <a:t>.</a:t>
            </a:r>
            <a:br>
              <a:rPr lang="en-US" sz="2000" dirty="0"/>
            </a:br>
            <a:r>
              <a:rPr lang="en-US" sz="2000" dirty="0">
                <a:solidFill>
                  <a:srgbClr val="AAC4E9"/>
                </a:solidFill>
              </a:rPr>
              <a:t>🔗 </a:t>
            </a:r>
            <a:r>
              <a:rPr lang="en-US" sz="2000" dirty="0">
                <a:solidFill>
                  <a:srgbClr val="AAC4E9"/>
                </a:solidFill>
                <a:hlinkClick r:id="rId5">
                  <a:extLst>
                    <a:ext uri="{A12FA001-AC4F-418D-AE19-62706E023703}">
                      <ahyp:hlinkClr xmlns:ahyp="http://schemas.microsoft.com/office/drawing/2018/hyperlinkcolor" val="tx"/>
                    </a:ext>
                  </a:extLst>
                </a:hlinkClick>
              </a:rPr>
              <a:t>https://www.theguardian.com/society/2025/dec/14/hospitals-in-england-face-dangerous-winter-overcrowding-due-to-discharge-delays</a:t>
            </a:r>
            <a:endParaRPr lang="en-US" sz="2000" dirty="0">
              <a:solidFill>
                <a:srgbClr val="AAC4E9"/>
              </a:solidFill>
            </a:endParaRPr>
          </a:p>
          <a:p>
            <a:endParaRPr lang="en-IN" sz="1800" dirty="0">
              <a:solidFill>
                <a:schemeClr val="tx2">
                  <a:lumMod val="40000"/>
                  <a:lumOff val="60000"/>
                </a:schemeClr>
              </a:solidFill>
            </a:endParaRPr>
          </a:p>
        </p:txBody>
      </p:sp>
      <p:sp>
        <p:nvSpPr>
          <p:cNvPr id="10" name="Content Placeholder 9">
            <a:extLst>
              <a:ext uri="{FF2B5EF4-FFF2-40B4-BE49-F238E27FC236}">
                <a16:creationId xmlns:a16="http://schemas.microsoft.com/office/drawing/2014/main" id="{A18CC347-F8AB-5AB4-4D3C-924AC9D83435}"/>
              </a:ext>
            </a:extLst>
          </p:cNvPr>
          <p:cNvSpPr>
            <a:spLocks noGrp="1"/>
          </p:cNvSpPr>
          <p:nvPr>
            <p:ph sz="half" idx="15"/>
          </p:nvPr>
        </p:nvSpPr>
        <p:spPr/>
        <p:txBody>
          <a:bodyPr/>
          <a:lstStyle/>
          <a:p>
            <a:endParaRPr lang="en-IN"/>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958D1-FDEA-DC1B-680B-9C78FCB7D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EDD3B-6FC3-4F8E-B2BE-A9D46BF643C5}"/>
              </a:ext>
            </a:extLst>
          </p:cNvPr>
          <p:cNvSpPr>
            <a:spLocks noGrp="1"/>
          </p:cNvSpPr>
          <p:nvPr>
            <p:ph type="title"/>
          </p:nvPr>
        </p:nvSpPr>
        <p:spPr>
          <a:xfrm>
            <a:off x="261257" y="212271"/>
            <a:ext cx="10335986" cy="5976258"/>
          </a:xfrm>
        </p:spPr>
        <p:txBody>
          <a:bodyPr/>
          <a:lstStyle/>
          <a:p>
            <a:endParaRPr lang="en-US" sz="3200" dirty="0">
              <a:solidFill>
                <a:schemeClr val="accent2">
                  <a:lumMod val="60000"/>
                  <a:lumOff val="40000"/>
                </a:schemeClr>
              </a:solidFill>
            </a:endParaRPr>
          </a:p>
        </p:txBody>
      </p:sp>
      <p:sp>
        <p:nvSpPr>
          <p:cNvPr id="8" name="TextBox 7">
            <a:extLst>
              <a:ext uri="{FF2B5EF4-FFF2-40B4-BE49-F238E27FC236}">
                <a16:creationId xmlns:a16="http://schemas.microsoft.com/office/drawing/2014/main" id="{CCC12A0D-DE4F-800B-2C3B-5E1AE9073735}"/>
              </a:ext>
            </a:extLst>
          </p:cNvPr>
          <p:cNvSpPr txBox="1"/>
          <p:nvPr/>
        </p:nvSpPr>
        <p:spPr>
          <a:xfrm>
            <a:off x="4838700" y="1458686"/>
            <a:ext cx="1191986" cy="369332"/>
          </a:xfrm>
          <a:prstGeom prst="rect">
            <a:avLst/>
          </a:prstGeom>
          <a:noFill/>
        </p:spPr>
        <p:txBody>
          <a:bodyPr wrap="square" rtlCol="0">
            <a:spAutoFit/>
          </a:bodyPr>
          <a:lstStyle/>
          <a:p>
            <a:endParaRPr lang="en-IN" dirty="0"/>
          </a:p>
        </p:txBody>
      </p:sp>
      <p:sp>
        <p:nvSpPr>
          <p:cNvPr id="4" name="Picture Placeholder 3">
            <a:extLst>
              <a:ext uri="{FF2B5EF4-FFF2-40B4-BE49-F238E27FC236}">
                <a16:creationId xmlns:a16="http://schemas.microsoft.com/office/drawing/2014/main" id="{6F4BB3A1-F94A-CB78-4123-E27AA7A5AE01}"/>
              </a:ext>
            </a:extLst>
          </p:cNvPr>
          <p:cNvSpPr>
            <a:spLocks noGrp="1"/>
          </p:cNvSpPr>
          <p:nvPr>
            <p:ph type="pic" sz="quarter" idx="11"/>
          </p:nvPr>
        </p:nvSpPr>
        <p:spPr/>
      </p:sp>
      <p:sp>
        <p:nvSpPr>
          <p:cNvPr id="9" name="TextBox 8">
            <a:extLst>
              <a:ext uri="{FF2B5EF4-FFF2-40B4-BE49-F238E27FC236}">
                <a16:creationId xmlns:a16="http://schemas.microsoft.com/office/drawing/2014/main" id="{D65918F5-60BB-7B5B-C415-64114D2972A5}"/>
              </a:ext>
            </a:extLst>
          </p:cNvPr>
          <p:cNvSpPr txBox="1"/>
          <p:nvPr/>
        </p:nvSpPr>
        <p:spPr>
          <a:xfrm>
            <a:off x="261257" y="68052"/>
            <a:ext cx="10518073" cy="5632311"/>
          </a:xfrm>
          <a:prstGeom prst="rect">
            <a:avLst/>
          </a:prstGeom>
          <a:noFill/>
        </p:spPr>
        <p:txBody>
          <a:bodyPr wrap="square">
            <a:spAutoFit/>
          </a:bodyPr>
          <a:lstStyle/>
          <a:p>
            <a:pPr>
              <a:buNone/>
            </a:pPr>
            <a:r>
              <a:rPr lang="en-US" b="1" dirty="0">
                <a:solidFill>
                  <a:schemeClr val="accent5">
                    <a:lumMod val="50000"/>
                  </a:schemeClr>
                </a:solidFill>
              </a:rPr>
              <a:t>Problem Statement:</a:t>
            </a:r>
            <a:endParaRPr lang="en-US" dirty="0">
              <a:solidFill>
                <a:schemeClr val="accent5">
                  <a:lumMod val="50000"/>
                </a:schemeClr>
              </a:solidFill>
            </a:endParaRPr>
          </a:p>
          <a:p>
            <a:pPr>
              <a:buNone/>
            </a:pPr>
            <a:r>
              <a:rPr lang="en-US" dirty="0">
                <a:solidFill>
                  <a:schemeClr val="accent5">
                    <a:lumMod val="50000"/>
                  </a:schemeClr>
                </a:solidFill>
              </a:rPr>
              <a:t>During peak hours and emergency situations, hospitals struggle with inefficient bed management, delayed patient care, and poor coordination between departments. Critical decisions—such as ICU allocation, patient transfers, and doctor assignment—are often made without real-time visibility or system-wide intelligence.</a:t>
            </a:r>
          </a:p>
          <a:p>
            <a:pPr>
              <a:buNone/>
            </a:pPr>
            <a:r>
              <a:rPr lang="en-US" dirty="0">
                <a:solidFill>
                  <a:schemeClr val="accent5">
                    <a:lumMod val="50000"/>
                  </a:schemeClr>
                </a:solidFill>
              </a:rPr>
              <a:t>This results in:</a:t>
            </a:r>
          </a:p>
          <a:p>
            <a:pPr>
              <a:buFont typeface="Arial" panose="020B0604020202020204" pitchFamily="34" charset="0"/>
              <a:buChar char="•"/>
            </a:pPr>
            <a:r>
              <a:rPr lang="en-US" dirty="0">
                <a:solidFill>
                  <a:schemeClr val="accent5">
                    <a:lumMod val="50000"/>
                  </a:schemeClr>
                </a:solidFill>
              </a:rPr>
              <a:t>Increased patient waiting times </a:t>
            </a:r>
          </a:p>
          <a:p>
            <a:pPr>
              <a:buFont typeface="Arial" panose="020B0604020202020204" pitchFamily="34" charset="0"/>
              <a:buChar char="•"/>
            </a:pPr>
            <a:r>
              <a:rPr lang="en-US" dirty="0">
                <a:solidFill>
                  <a:schemeClr val="accent5">
                    <a:lumMod val="50000"/>
                  </a:schemeClr>
                </a:solidFill>
              </a:rPr>
              <a:t>ICU overload and mismanagement </a:t>
            </a:r>
          </a:p>
          <a:p>
            <a:pPr>
              <a:buFont typeface="Arial" panose="020B0604020202020204" pitchFamily="34" charset="0"/>
              <a:buChar char="•"/>
            </a:pPr>
            <a:r>
              <a:rPr lang="en-US" dirty="0">
                <a:solidFill>
                  <a:schemeClr val="accent5">
                    <a:lumMod val="50000"/>
                  </a:schemeClr>
                </a:solidFill>
              </a:rPr>
              <a:t>Inefficient utilization of doctors and medical resources </a:t>
            </a:r>
          </a:p>
          <a:p>
            <a:pPr>
              <a:buFont typeface="Arial" panose="020B0604020202020204" pitchFamily="34" charset="0"/>
              <a:buChar char="•"/>
            </a:pPr>
            <a:r>
              <a:rPr lang="en-US" dirty="0">
                <a:solidFill>
                  <a:schemeClr val="accent5">
                    <a:lumMod val="50000"/>
                  </a:schemeClr>
                </a:solidFill>
              </a:rPr>
              <a:t>Lack of transparency in hospital operations </a:t>
            </a:r>
          </a:p>
          <a:p>
            <a:pPr>
              <a:buNone/>
            </a:pPr>
            <a:r>
              <a:rPr lang="en-US" b="1" dirty="0">
                <a:solidFill>
                  <a:schemeClr val="accent5">
                    <a:lumMod val="50000"/>
                  </a:schemeClr>
                </a:solidFill>
              </a:rPr>
              <a:t>Challenge:</a:t>
            </a:r>
            <a:endParaRPr lang="en-US" dirty="0">
              <a:solidFill>
                <a:schemeClr val="accent5">
                  <a:lumMod val="50000"/>
                </a:schemeClr>
              </a:solidFill>
            </a:endParaRPr>
          </a:p>
          <a:p>
            <a:pPr>
              <a:buNone/>
            </a:pPr>
            <a:r>
              <a:rPr lang="en-US" dirty="0">
                <a:solidFill>
                  <a:schemeClr val="accent5">
                    <a:lumMod val="50000"/>
                  </a:schemeClr>
                </a:solidFill>
              </a:rPr>
              <a:t>Build a </a:t>
            </a:r>
            <a:r>
              <a:rPr lang="en-US" b="1" dirty="0">
                <a:solidFill>
                  <a:schemeClr val="accent5">
                    <a:lumMod val="50000"/>
                  </a:schemeClr>
                </a:solidFill>
              </a:rPr>
              <a:t>smart, simulation-driven hospital system</a:t>
            </a:r>
            <a:r>
              <a:rPr lang="en-US" dirty="0">
                <a:solidFill>
                  <a:schemeClr val="accent5">
                    <a:lumMod val="50000"/>
                  </a:schemeClr>
                </a:solidFill>
              </a:rPr>
              <a:t> that acts as a </a:t>
            </a:r>
            <a:r>
              <a:rPr lang="en-US" b="1" dirty="0">
                <a:solidFill>
                  <a:schemeClr val="accent5">
                    <a:lumMod val="50000"/>
                  </a:schemeClr>
                </a:solidFill>
              </a:rPr>
              <a:t>Digital Twin</a:t>
            </a:r>
            <a:r>
              <a:rPr lang="en-US" dirty="0">
                <a:solidFill>
                  <a:schemeClr val="accent5">
                    <a:lumMod val="50000"/>
                  </a:schemeClr>
                </a:solidFill>
              </a:rPr>
              <a:t>, allowing administrators and medical staff to:</a:t>
            </a:r>
          </a:p>
          <a:p>
            <a:pPr>
              <a:buFont typeface="Arial" panose="020B0604020202020204" pitchFamily="34" charset="0"/>
              <a:buChar char="•"/>
            </a:pPr>
            <a:r>
              <a:rPr lang="en-US" dirty="0">
                <a:solidFill>
                  <a:schemeClr val="accent5">
                    <a:lumMod val="50000"/>
                  </a:schemeClr>
                </a:solidFill>
              </a:rPr>
              <a:t>Visualize hospital operations in real time </a:t>
            </a:r>
          </a:p>
          <a:p>
            <a:pPr>
              <a:buFont typeface="Arial" panose="020B0604020202020204" pitchFamily="34" charset="0"/>
              <a:buChar char="•"/>
            </a:pPr>
            <a:r>
              <a:rPr lang="en-US" dirty="0">
                <a:solidFill>
                  <a:schemeClr val="accent5">
                    <a:lumMod val="50000"/>
                  </a:schemeClr>
                </a:solidFill>
              </a:rPr>
              <a:t>Manage beds and patients dynamically </a:t>
            </a:r>
          </a:p>
          <a:p>
            <a:pPr>
              <a:buFont typeface="Arial" panose="020B0604020202020204" pitchFamily="34" charset="0"/>
              <a:buChar char="•"/>
            </a:pPr>
            <a:r>
              <a:rPr lang="en-US" dirty="0">
                <a:solidFill>
                  <a:schemeClr val="accent5">
                    <a:lumMod val="50000"/>
                  </a:schemeClr>
                </a:solidFill>
              </a:rPr>
              <a:t>Route patients efficiently across departments (ICU, labs, MRI, etc.) </a:t>
            </a:r>
          </a:p>
          <a:p>
            <a:pPr>
              <a:buFont typeface="Arial" panose="020B0604020202020204" pitchFamily="34" charset="0"/>
              <a:buChar char="•"/>
            </a:pPr>
            <a:r>
              <a:rPr lang="en-US" dirty="0">
                <a:solidFill>
                  <a:schemeClr val="accent5">
                    <a:lumMod val="50000"/>
                  </a:schemeClr>
                </a:solidFill>
              </a:rPr>
              <a:t>Assign doctors intelligently </a:t>
            </a:r>
          </a:p>
          <a:p>
            <a:pPr>
              <a:buFont typeface="Arial" panose="020B0604020202020204" pitchFamily="34" charset="0"/>
              <a:buChar char="•"/>
            </a:pPr>
            <a:r>
              <a:rPr lang="en-US" dirty="0">
                <a:solidFill>
                  <a:schemeClr val="accent5">
                    <a:lumMod val="50000"/>
                  </a:schemeClr>
                </a:solidFill>
              </a:rPr>
              <a:t>Handle emergency surges with system-driven recommendations </a:t>
            </a:r>
          </a:p>
          <a:p>
            <a:pPr>
              <a:buNone/>
            </a:pPr>
            <a:r>
              <a:rPr lang="en-US" dirty="0">
                <a:solidFill>
                  <a:schemeClr val="accent5">
                    <a:lumMod val="50000"/>
                  </a:schemeClr>
                </a:solidFill>
              </a:rPr>
              <a:t>The solution should demonstrate how technology can transform hospitals into </a:t>
            </a:r>
            <a:r>
              <a:rPr lang="en-US" b="1" dirty="0">
                <a:solidFill>
                  <a:schemeClr val="accent5">
                    <a:lumMod val="50000"/>
                  </a:schemeClr>
                </a:solidFill>
              </a:rPr>
              <a:t>data-driven, adaptive, and intelligent systems</a:t>
            </a:r>
            <a:r>
              <a:rPr lang="en-US" dirty="0">
                <a:solidFill>
                  <a:schemeClr val="accent5">
                    <a:lumMod val="50000"/>
                  </a:schemeClr>
                </a:solidFill>
              </a:rPr>
              <a:t>.</a:t>
            </a:r>
          </a:p>
        </p:txBody>
      </p:sp>
    </p:spTree>
    <p:extLst>
      <p:ext uri="{BB962C8B-B14F-4D97-AF65-F5344CB8AC3E}">
        <p14:creationId xmlns:p14="http://schemas.microsoft.com/office/powerpoint/2010/main" val="1585653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1057275"/>
            <a:ext cx="5259554" cy="2495028"/>
          </a:xfrm>
        </p:spPr>
        <p:txBody>
          <a:bodyPr/>
          <a:lstStyle/>
          <a:p>
            <a:r>
              <a:rPr lang="en-US" dirty="0"/>
              <a:t>Overcoming nervousness</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3808750"/>
            <a:ext cx="5259554" cy="2233233"/>
          </a:xfrm>
        </p:spPr>
        <p:txBody>
          <a:bodyPr/>
          <a:lstStyle/>
          <a:p>
            <a:r>
              <a:rPr lang="en-US" dirty="0"/>
              <a:t>Confidence-building strategies</a:t>
            </a:r>
          </a:p>
        </p:txBody>
      </p:sp>
      <p:pic>
        <p:nvPicPr>
          <p:cNvPr id="5" name="Picture 4">
            <a:extLst>
              <a:ext uri="{FF2B5EF4-FFF2-40B4-BE49-F238E27FC236}">
                <a16:creationId xmlns:a16="http://schemas.microsoft.com/office/drawing/2014/main" id="{2C0C9E25-64F0-72B7-5678-7F04190C4238}"/>
              </a:ext>
            </a:extLst>
          </p:cNvPr>
          <p:cNvPicPr>
            <a:picLocks noChangeAspect="1"/>
          </p:cNvPicPr>
          <p:nvPr/>
        </p:nvPicPr>
        <p:blipFill>
          <a:blip r:embed="rId3"/>
          <a:stretch>
            <a:fillRect/>
          </a:stretch>
        </p:blipFill>
        <p:spPr>
          <a:xfrm>
            <a:off x="-250938" y="-27341"/>
            <a:ext cx="6553768" cy="6912681"/>
          </a:xfrm>
          <a:prstGeom prst="rect">
            <a:avLst/>
          </a:prstGeom>
        </p:spPr>
      </p:pic>
      <p:pic>
        <p:nvPicPr>
          <p:cNvPr id="10" name="Picture 9">
            <a:extLst>
              <a:ext uri="{FF2B5EF4-FFF2-40B4-BE49-F238E27FC236}">
                <a16:creationId xmlns:a16="http://schemas.microsoft.com/office/drawing/2014/main" id="{5100CCA8-9DA6-0EC0-D58E-6BE94DEC205B}"/>
              </a:ext>
            </a:extLst>
          </p:cNvPr>
          <p:cNvPicPr>
            <a:picLocks noChangeAspect="1"/>
          </p:cNvPicPr>
          <p:nvPr/>
        </p:nvPicPr>
        <p:blipFill>
          <a:blip r:embed="rId4"/>
          <a:stretch>
            <a:fillRect/>
          </a:stretch>
        </p:blipFill>
        <p:spPr>
          <a:xfrm>
            <a:off x="5753100" y="-27341"/>
            <a:ext cx="6553768" cy="1912786"/>
          </a:xfrm>
          <a:prstGeom prst="rect">
            <a:avLst/>
          </a:prstGeom>
        </p:spPr>
      </p:pic>
      <p:pic>
        <p:nvPicPr>
          <p:cNvPr id="16" name="Picture 15">
            <a:extLst>
              <a:ext uri="{FF2B5EF4-FFF2-40B4-BE49-F238E27FC236}">
                <a16:creationId xmlns:a16="http://schemas.microsoft.com/office/drawing/2014/main" id="{CC362E6C-0014-63AA-84E3-370A2CE16257}"/>
              </a:ext>
            </a:extLst>
          </p:cNvPr>
          <p:cNvPicPr>
            <a:picLocks noChangeAspect="1"/>
          </p:cNvPicPr>
          <p:nvPr/>
        </p:nvPicPr>
        <p:blipFill>
          <a:blip r:embed="rId5"/>
          <a:stretch>
            <a:fillRect/>
          </a:stretch>
        </p:blipFill>
        <p:spPr>
          <a:xfrm>
            <a:off x="5012873" y="1878118"/>
            <a:ext cx="7282542" cy="1930631"/>
          </a:xfrm>
          <a:prstGeom prst="rect">
            <a:avLst/>
          </a:prstGeom>
        </p:spPr>
      </p:pic>
      <p:pic>
        <p:nvPicPr>
          <p:cNvPr id="18" name="Picture 17">
            <a:extLst>
              <a:ext uri="{FF2B5EF4-FFF2-40B4-BE49-F238E27FC236}">
                <a16:creationId xmlns:a16="http://schemas.microsoft.com/office/drawing/2014/main" id="{138A6DC3-6F77-AF1D-43FE-5D2DE3B5C245}"/>
              </a:ext>
            </a:extLst>
          </p:cNvPr>
          <p:cNvPicPr>
            <a:picLocks noChangeAspect="1"/>
          </p:cNvPicPr>
          <p:nvPr/>
        </p:nvPicPr>
        <p:blipFill>
          <a:blip r:embed="rId6"/>
          <a:stretch>
            <a:fillRect/>
          </a:stretch>
        </p:blipFill>
        <p:spPr>
          <a:xfrm>
            <a:off x="5012872" y="3808749"/>
            <a:ext cx="7328266" cy="3076591"/>
          </a:xfrm>
          <a:prstGeom prst="rect">
            <a:avLst/>
          </a:prstGeom>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239501-8DFD-FACC-E6E4-F0F406D66288}"/>
              </a:ext>
            </a:extLst>
          </p:cNvPr>
          <p:cNvSpPr>
            <a:spLocks noGrp="1"/>
          </p:cNvSpPr>
          <p:nvPr>
            <p:ph type="title"/>
          </p:nvPr>
        </p:nvSpPr>
        <p:spPr/>
        <p:txBody>
          <a:bodyPr/>
          <a:lstStyle/>
          <a:p>
            <a:r>
              <a:rPr lang="en-US" dirty="0"/>
              <a:t>Implemented tech stack</a:t>
            </a:r>
            <a:endParaRPr lang="en-IN" dirty="0"/>
          </a:p>
        </p:txBody>
      </p:sp>
      <p:sp>
        <p:nvSpPr>
          <p:cNvPr id="8" name="Content Placeholder 7">
            <a:extLst>
              <a:ext uri="{FF2B5EF4-FFF2-40B4-BE49-F238E27FC236}">
                <a16:creationId xmlns:a16="http://schemas.microsoft.com/office/drawing/2014/main" id="{6BD58AE8-53A9-B572-39C2-91367E8A2C3D}"/>
              </a:ext>
            </a:extLst>
          </p:cNvPr>
          <p:cNvSpPr>
            <a:spLocks noGrp="1"/>
          </p:cNvSpPr>
          <p:nvPr>
            <p:ph sz="half" idx="2"/>
          </p:nvPr>
        </p:nvSpPr>
        <p:spPr>
          <a:xfrm>
            <a:off x="3460564" y="2303029"/>
            <a:ext cx="3459219" cy="3760020"/>
          </a:xfrm>
        </p:spPr>
        <p:txBody>
          <a:bodyPr/>
          <a:lstStyle/>
          <a:p>
            <a:pPr marL="0" indent="0">
              <a:buNone/>
            </a:pPr>
            <a:r>
              <a:rPr lang="en-IN" b="1" dirty="0">
                <a:solidFill>
                  <a:srgbClr val="DF8C8C"/>
                </a:solidFill>
              </a:rPr>
              <a:t>Frontend-React + Vite</a:t>
            </a:r>
            <a:r>
              <a:rPr lang="en-IN" dirty="0">
                <a:solidFill>
                  <a:srgbClr val="DF8C8C"/>
                </a:solidFill>
              </a:rPr>
              <a:t>	</a:t>
            </a:r>
          </a:p>
          <a:p>
            <a:pPr marL="0" indent="0">
              <a:buNone/>
            </a:pPr>
            <a:r>
              <a:rPr lang="en-IN" dirty="0">
                <a:solidFill>
                  <a:srgbClr val="DF8C8C"/>
                </a:solidFill>
              </a:rPr>
              <a:t>•Fast, component-based UI	</a:t>
            </a:r>
          </a:p>
          <a:p>
            <a:pPr marL="0" indent="0">
              <a:buNone/>
            </a:pPr>
            <a:r>
              <a:rPr lang="en-IN" dirty="0">
                <a:solidFill>
                  <a:srgbClr val="DF8C8C"/>
                </a:solidFill>
              </a:rPr>
              <a:t>•Responsive design</a:t>
            </a:r>
          </a:p>
          <a:p>
            <a:pPr marL="0" indent="0">
              <a:buNone/>
            </a:pPr>
            <a:endParaRPr lang="en-IN" dirty="0">
              <a:solidFill>
                <a:srgbClr val="DF8C8C"/>
              </a:solidFill>
            </a:endParaRPr>
          </a:p>
          <a:p>
            <a:pPr marL="0" indent="0">
              <a:buNone/>
            </a:pPr>
            <a:endParaRPr lang="en-IN" dirty="0">
              <a:solidFill>
                <a:srgbClr val="DF8C8C"/>
              </a:solidFill>
            </a:endParaRPr>
          </a:p>
          <a:p>
            <a:pPr marL="0" indent="0">
              <a:buNone/>
            </a:pPr>
            <a:r>
              <a:rPr lang="en-IN" b="1" dirty="0">
                <a:solidFill>
                  <a:srgbClr val="DF8C8C"/>
                </a:solidFill>
              </a:rPr>
              <a:t>Deployment-</a:t>
            </a:r>
            <a:r>
              <a:rPr lang="en-IN" b="1" dirty="0" err="1">
                <a:solidFill>
                  <a:srgbClr val="DF8C8C"/>
                </a:solidFill>
              </a:rPr>
              <a:t>Vercel</a:t>
            </a:r>
            <a:r>
              <a:rPr lang="en-IN" b="1" dirty="0">
                <a:solidFill>
                  <a:srgbClr val="DF8C8C"/>
                </a:solidFill>
              </a:rPr>
              <a:t>	</a:t>
            </a:r>
          </a:p>
          <a:p>
            <a:pPr marL="0" indent="0">
              <a:buNone/>
            </a:pPr>
            <a:r>
              <a:rPr lang="en-IN" dirty="0">
                <a:solidFill>
                  <a:srgbClr val="DF8C8C"/>
                </a:solidFill>
              </a:rPr>
              <a:t>•Serverless hosting	</a:t>
            </a:r>
          </a:p>
          <a:p>
            <a:pPr marL="0" indent="0">
              <a:buNone/>
            </a:pPr>
            <a:r>
              <a:rPr lang="en-IN" dirty="0">
                <a:solidFill>
                  <a:srgbClr val="DF8C8C"/>
                </a:solidFill>
              </a:rPr>
              <a:t>•Global CDN + auto CI/CD</a:t>
            </a:r>
          </a:p>
        </p:txBody>
      </p:sp>
      <p:sp>
        <p:nvSpPr>
          <p:cNvPr id="9" name="TextBox 8">
            <a:extLst>
              <a:ext uri="{FF2B5EF4-FFF2-40B4-BE49-F238E27FC236}">
                <a16:creationId xmlns:a16="http://schemas.microsoft.com/office/drawing/2014/main" id="{68FE4E8A-6D39-F4D2-A9DD-8009FEAC77E0}"/>
              </a:ext>
            </a:extLst>
          </p:cNvPr>
          <p:cNvSpPr txBox="1"/>
          <p:nvPr/>
        </p:nvSpPr>
        <p:spPr>
          <a:xfrm>
            <a:off x="7443295" y="2080824"/>
            <a:ext cx="3459220" cy="3789820"/>
          </a:xfrm>
          <a:prstGeom prst="rect">
            <a:avLst/>
          </a:prstGeom>
          <a:noFill/>
        </p:spPr>
        <p:txBody>
          <a:bodyPr wrap="square" rtlCol="0">
            <a:spAutoFit/>
          </a:bodyPr>
          <a:lstStyle/>
          <a:p>
            <a:pPr>
              <a:lnSpc>
                <a:spcPct val="150000"/>
              </a:lnSpc>
            </a:pPr>
            <a:r>
              <a:rPr lang="en-US" b="1" dirty="0">
                <a:solidFill>
                  <a:srgbClr val="DF8C8C"/>
                </a:solidFill>
              </a:rPr>
              <a:t>Backend-</a:t>
            </a:r>
            <a:r>
              <a:rPr lang="en-US" b="1" dirty="0" err="1">
                <a:solidFill>
                  <a:srgbClr val="DF8C8C"/>
                </a:solidFill>
              </a:rPr>
              <a:t>Supabase</a:t>
            </a:r>
            <a:r>
              <a:rPr lang="en-US" b="1" dirty="0">
                <a:solidFill>
                  <a:srgbClr val="DF8C8C"/>
                </a:solidFill>
              </a:rPr>
              <a:t> (BaaS)	</a:t>
            </a:r>
          </a:p>
          <a:p>
            <a:pPr>
              <a:lnSpc>
                <a:spcPct val="150000"/>
              </a:lnSpc>
            </a:pPr>
            <a:r>
              <a:rPr lang="en-US" dirty="0">
                <a:solidFill>
                  <a:srgbClr val="DF8C8C"/>
                </a:solidFill>
              </a:rPr>
              <a:t>•PostgreSQL database</a:t>
            </a:r>
          </a:p>
          <a:p>
            <a:pPr>
              <a:lnSpc>
                <a:spcPct val="150000"/>
              </a:lnSpc>
            </a:pPr>
            <a:r>
              <a:rPr lang="en-US" dirty="0">
                <a:solidFill>
                  <a:srgbClr val="DF8C8C"/>
                </a:solidFill>
              </a:rPr>
              <a:t>•Auth, APIs, real-time</a:t>
            </a:r>
          </a:p>
          <a:p>
            <a:pPr>
              <a:lnSpc>
                <a:spcPct val="150000"/>
              </a:lnSpc>
            </a:pPr>
            <a:endParaRPr lang="en-US" dirty="0">
              <a:solidFill>
                <a:srgbClr val="DF8C8C"/>
              </a:solidFill>
            </a:endParaRPr>
          </a:p>
          <a:p>
            <a:pPr>
              <a:lnSpc>
                <a:spcPct val="150000"/>
              </a:lnSpc>
            </a:pPr>
            <a:endParaRPr lang="en-US" dirty="0">
              <a:solidFill>
                <a:srgbClr val="DF8C8C"/>
              </a:solidFill>
            </a:endParaRPr>
          </a:p>
          <a:p>
            <a:pPr>
              <a:lnSpc>
                <a:spcPct val="150000"/>
              </a:lnSpc>
            </a:pPr>
            <a:r>
              <a:rPr lang="en-US" b="1" dirty="0">
                <a:solidFill>
                  <a:srgbClr val="DF8C8C"/>
                </a:solidFill>
              </a:rPr>
              <a:t>Architecture</a:t>
            </a:r>
            <a:r>
              <a:rPr lang="en-US" dirty="0">
                <a:solidFill>
                  <a:srgbClr val="DF8C8C"/>
                </a:solidFill>
              </a:rPr>
              <a:t>	</a:t>
            </a:r>
          </a:p>
          <a:p>
            <a:pPr>
              <a:lnSpc>
                <a:spcPct val="150000"/>
              </a:lnSpc>
            </a:pPr>
            <a:r>
              <a:rPr lang="en-US" dirty="0">
                <a:solidFill>
                  <a:srgbClr val="DF8C8C"/>
                </a:solidFill>
              </a:rPr>
              <a:t>•Decoupled frontend &amp; backend</a:t>
            </a:r>
          </a:p>
          <a:p>
            <a:pPr>
              <a:lnSpc>
                <a:spcPct val="150000"/>
              </a:lnSpc>
            </a:pPr>
            <a:r>
              <a:rPr lang="en-US" dirty="0">
                <a:solidFill>
                  <a:srgbClr val="DF8C8C"/>
                </a:solidFill>
              </a:rPr>
              <a:t>•API-driven (REST/JSON)	</a:t>
            </a:r>
          </a:p>
          <a:p>
            <a:pPr>
              <a:lnSpc>
                <a:spcPct val="150000"/>
              </a:lnSpc>
            </a:pPr>
            <a:r>
              <a:rPr lang="en-US" dirty="0">
                <a:solidFill>
                  <a:srgbClr val="DF8C8C"/>
                </a:solidFill>
              </a:rPr>
              <a:t>•Scalable serverless system</a:t>
            </a:r>
            <a:endParaRPr lang="en-IN" dirty="0">
              <a:solidFill>
                <a:srgbClr val="DF8C8C"/>
              </a:solidFill>
            </a:endParaRPr>
          </a:p>
        </p:txBody>
      </p:sp>
      <p:sp>
        <p:nvSpPr>
          <p:cNvPr id="10" name="TextBox 9">
            <a:extLst>
              <a:ext uri="{FF2B5EF4-FFF2-40B4-BE49-F238E27FC236}">
                <a16:creationId xmlns:a16="http://schemas.microsoft.com/office/drawing/2014/main" id="{D80CCF4E-6084-7025-E8E5-B1D6E80C9783}"/>
              </a:ext>
            </a:extLst>
          </p:cNvPr>
          <p:cNvSpPr txBox="1"/>
          <p:nvPr/>
        </p:nvSpPr>
        <p:spPr>
          <a:xfrm>
            <a:off x="3460565" y="6063049"/>
            <a:ext cx="7586376" cy="646331"/>
          </a:xfrm>
          <a:prstGeom prst="rect">
            <a:avLst/>
          </a:prstGeom>
          <a:noFill/>
        </p:spPr>
        <p:txBody>
          <a:bodyPr wrap="square" rtlCol="0">
            <a:spAutoFit/>
          </a:bodyPr>
          <a:lstStyle/>
          <a:p>
            <a:r>
              <a:rPr lang="en-US" dirty="0">
                <a:solidFill>
                  <a:schemeClr val="tx2">
                    <a:lumMod val="60000"/>
                    <a:lumOff val="40000"/>
                  </a:schemeClr>
                </a:solidFill>
              </a:rPr>
              <a:t>React (Frontend) + </a:t>
            </a:r>
            <a:r>
              <a:rPr lang="en-US" dirty="0" err="1">
                <a:solidFill>
                  <a:schemeClr val="tx2">
                    <a:lumMod val="60000"/>
                    <a:lumOff val="40000"/>
                  </a:schemeClr>
                </a:solidFill>
              </a:rPr>
              <a:t>Supabase</a:t>
            </a:r>
            <a:r>
              <a:rPr lang="en-US" dirty="0">
                <a:solidFill>
                  <a:schemeClr val="tx2">
                    <a:lumMod val="60000"/>
                    <a:lumOff val="40000"/>
                  </a:schemeClr>
                </a:solidFill>
              </a:rPr>
              <a:t> (Backend) + </a:t>
            </a:r>
            <a:r>
              <a:rPr lang="en-US" dirty="0" err="1">
                <a:solidFill>
                  <a:schemeClr val="tx2">
                    <a:lumMod val="60000"/>
                    <a:lumOff val="40000"/>
                  </a:schemeClr>
                </a:solidFill>
              </a:rPr>
              <a:t>Vercel</a:t>
            </a:r>
            <a:r>
              <a:rPr lang="en-US" dirty="0">
                <a:solidFill>
                  <a:schemeClr val="tx2">
                    <a:lumMod val="60000"/>
                    <a:lumOff val="40000"/>
                  </a:schemeClr>
                </a:solidFill>
              </a:rPr>
              <a:t> (Deployment)→ Fast, scalable, production-ready application</a:t>
            </a:r>
            <a:endParaRPr lang="en-IN" dirty="0">
              <a:solidFill>
                <a:schemeClr val="tx2">
                  <a:lumMod val="60000"/>
                  <a:lumOff val="40000"/>
                </a:schemeClr>
              </a:solidFill>
            </a:endParaRPr>
          </a:p>
        </p:txBody>
      </p:sp>
    </p:spTree>
    <p:extLst>
      <p:ext uri="{BB962C8B-B14F-4D97-AF65-F5344CB8AC3E}">
        <p14:creationId xmlns:p14="http://schemas.microsoft.com/office/powerpoint/2010/main" val="2764189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Engaging the audience</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lstStyle/>
          <a:p>
            <a:r>
              <a:rPr lang="en-US" dirty="0"/>
              <a:t>Make eye contact with your audience to create a sense of intimacy and involvement</a:t>
            </a:r>
          </a:p>
          <a:p>
            <a:r>
              <a:rPr lang="en-US" dirty="0"/>
              <a:t>Weave relatable stories into your presentation using narratives that make your message memorable and impactful</a:t>
            </a:r>
          </a:p>
          <a:p>
            <a:r>
              <a:rPr lang="en-US" dirty="0"/>
              <a:t>Encourage questions and provide thoughtful responses to enhance audience participation</a:t>
            </a:r>
          </a:p>
          <a:p>
            <a:r>
              <a:rPr lang="en-US" dirty="0"/>
              <a:t>Use live polls or surveys to gather audience opinions, promoting engagement and making sure the audience feel involved</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pic>
        <p:nvPicPr>
          <p:cNvPr id="5" name="Picture 4">
            <a:extLst>
              <a:ext uri="{FF2B5EF4-FFF2-40B4-BE49-F238E27FC236}">
                <a16:creationId xmlns:a16="http://schemas.microsoft.com/office/drawing/2014/main" id="{F6EF64DC-961F-28CA-E8C9-58E18718EF03}"/>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68568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3800383" y="707553"/>
            <a:ext cx="7043617" cy="1447029"/>
          </a:xfrm>
        </p:spPr>
        <p:txBody>
          <a:bodyPr/>
          <a:lstStyle/>
          <a:p>
            <a:r>
              <a:rPr lang="en-IN" dirty="0"/>
              <a:t>What Makes SAGE Different</a:t>
            </a:r>
            <a:br>
              <a:rPr lang="en-IN" dirty="0"/>
            </a:b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pic>
        <p:nvPicPr>
          <p:cNvPr id="8" name="Content Placeholder 7">
            <a:extLst>
              <a:ext uri="{FF2B5EF4-FFF2-40B4-BE49-F238E27FC236}">
                <a16:creationId xmlns:a16="http://schemas.microsoft.com/office/drawing/2014/main" id="{3E8B6BCD-4F1A-49CD-904B-90F19FABCCA7}"/>
              </a:ext>
            </a:extLst>
          </p:cNvPr>
          <p:cNvPicPr>
            <a:picLocks noGrp="1" noChangeAspect="1"/>
          </p:cNvPicPr>
          <p:nvPr>
            <p:ph idx="11"/>
          </p:nvPr>
        </p:nvPicPr>
        <p:blipFill>
          <a:blip r:embed="rId3"/>
          <a:stretch>
            <a:fillRect/>
          </a:stretch>
        </p:blipFill>
        <p:spPr>
          <a:xfrm>
            <a:off x="8262551" y="2043112"/>
            <a:ext cx="3781727" cy="4234120"/>
          </a:xfrm>
          <a:prstGeom prst="rect">
            <a:avLst/>
          </a:prstGeom>
        </p:spPr>
      </p:pic>
      <p:pic>
        <p:nvPicPr>
          <p:cNvPr id="6" name="Picture 5">
            <a:extLst>
              <a:ext uri="{FF2B5EF4-FFF2-40B4-BE49-F238E27FC236}">
                <a16:creationId xmlns:a16="http://schemas.microsoft.com/office/drawing/2014/main" id="{59DC28E4-0A8F-A121-4CA4-0CF4FE8972D6}"/>
              </a:ext>
            </a:extLst>
          </p:cNvPr>
          <p:cNvPicPr>
            <a:picLocks noChangeAspect="1"/>
          </p:cNvPicPr>
          <p:nvPr/>
        </p:nvPicPr>
        <p:blipFill>
          <a:blip r:embed="rId4"/>
          <a:stretch>
            <a:fillRect/>
          </a:stretch>
        </p:blipFill>
        <p:spPr>
          <a:xfrm>
            <a:off x="4364808" y="6184890"/>
            <a:ext cx="5914768" cy="532595"/>
          </a:xfrm>
          <a:prstGeom prst="rect">
            <a:avLst/>
          </a:prstGeom>
        </p:spPr>
      </p:pic>
      <p:sp>
        <p:nvSpPr>
          <p:cNvPr id="9" name="TextBox 8">
            <a:extLst>
              <a:ext uri="{FF2B5EF4-FFF2-40B4-BE49-F238E27FC236}">
                <a16:creationId xmlns:a16="http://schemas.microsoft.com/office/drawing/2014/main" id="{CF6CE7E1-7A73-7A4E-6DBF-9406BDA062CC}"/>
              </a:ext>
            </a:extLst>
          </p:cNvPr>
          <p:cNvSpPr txBox="1"/>
          <p:nvPr/>
        </p:nvSpPr>
        <p:spPr>
          <a:xfrm>
            <a:off x="3805881" y="2043112"/>
            <a:ext cx="4300152" cy="4062651"/>
          </a:xfrm>
          <a:prstGeom prst="rect">
            <a:avLst/>
          </a:prstGeom>
          <a:noFill/>
        </p:spPr>
        <p:txBody>
          <a:bodyPr wrap="square" rtlCol="0">
            <a:spAutoFit/>
          </a:bodyPr>
          <a:lstStyle/>
          <a:p>
            <a:r>
              <a:rPr lang="en-US" sz="1600" b="1" dirty="0">
                <a:solidFill>
                  <a:schemeClr val="tx2">
                    <a:lumMod val="60000"/>
                    <a:lumOff val="40000"/>
                  </a:schemeClr>
                </a:solidFill>
              </a:rPr>
              <a:t>Quantified Impact</a:t>
            </a:r>
          </a:p>
          <a:p>
            <a:r>
              <a:rPr lang="en-US" sz="1600" b="1" dirty="0">
                <a:solidFill>
                  <a:schemeClr val="tx2">
                    <a:lumMod val="60000"/>
                    <a:lumOff val="40000"/>
                  </a:schemeClr>
                </a:solidFill>
              </a:rPr>
              <a:t>Transforming Hospital Operations</a:t>
            </a:r>
          </a:p>
          <a:p>
            <a:endParaRPr lang="en-US" sz="1600" dirty="0">
              <a:solidFill>
                <a:schemeClr val="tx2">
                  <a:lumMod val="60000"/>
                  <a:lumOff val="40000"/>
                </a:schemeClr>
              </a:solidFill>
            </a:endParaRPr>
          </a:p>
          <a:p>
            <a:r>
              <a:rPr lang="en-US" sz="1600" dirty="0">
                <a:solidFill>
                  <a:schemeClr val="tx2">
                    <a:lumMod val="60000"/>
                    <a:lumOff val="40000"/>
                  </a:schemeClr>
                </a:solidFill>
              </a:rPr>
              <a:t>SAGE delivers measurable improvements in hospital efficiency through real-time monitoring, predictive analytics, and automated decision-making.</a:t>
            </a:r>
          </a:p>
          <a:p>
            <a:endParaRPr lang="en-US" sz="1600" dirty="0">
              <a:solidFill>
                <a:schemeClr val="tx2">
                  <a:lumMod val="60000"/>
                  <a:lumOff val="40000"/>
                </a:schemeClr>
              </a:solidFill>
            </a:endParaRPr>
          </a:p>
          <a:p>
            <a:r>
              <a:rPr lang="en-US" sz="1600" dirty="0">
                <a:solidFill>
                  <a:schemeClr val="tx2">
                    <a:lumMod val="60000"/>
                    <a:lumOff val="40000"/>
                  </a:schemeClr>
                </a:solidFill>
              </a:rPr>
              <a:t>Our system targets key performance indicators that directly impact patient care quality and operational costs.</a:t>
            </a:r>
          </a:p>
          <a:p>
            <a:endParaRPr lang="en-US" sz="1600" dirty="0">
              <a:solidFill>
                <a:schemeClr val="tx2">
                  <a:lumMod val="60000"/>
                  <a:lumOff val="40000"/>
                </a:schemeClr>
              </a:solidFill>
            </a:endParaRPr>
          </a:p>
          <a:p>
            <a:r>
              <a:rPr lang="en-US" sz="1600" dirty="0">
                <a:solidFill>
                  <a:schemeClr val="tx2">
                    <a:lumMod val="60000"/>
                    <a:lumOff val="40000"/>
                  </a:schemeClr>
                </a:solidFill>
              </a:rPr>
              <a:t>* 20-30% reduction in ED boarding time</a:t>
            </a:r>
          </a:p>
          <a:p>
            <a:r>
              <a:rPr lang="en-US" sz="1600" dirty="0">
                <a:solidFill>
                  <a:schemeClr val="tx2">
                    <a:lumMod val="60000"/>
                    <a:lumOff val="40000"/>
                  </a:schemeClr>
                </a:solidFill>
              </a:rPr>
              <a:t>* 15-25% better bed utilization</a:t>
            </a:r>
          </a:p>
          <a:p>
            <a:r>
              <a:rPr lang="en-US" sz="1600" dirty="0">
                <a:solidFill>
                  <a:schemeClr val="tx2">
                    <a:lumMod val="60000"/>
                    <a:lumOff val="40000"/>
                  </a:schemeClr>
                </a:solidFill>
              </a:rPr>
              <a:t>* 40% reduction in manual coordination</a:t>
            </a:r>
          </a:p>
          <a:p>
            <a:endParaRPr lang="en-IN" dirty="0"/>
          </a:p>
        </p:txBody>
      </p:sp>
    </p:spTree>
    <p:extLst>
      <p:ext uri="{BB962C8B-B14F-4D97-AF65-F5344CB8AC3E}">
        <p14:creationId xmlns:p14="http://schemas.microsoft.com/office/powerpoint/2010/main" val="113171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1222385"/>
          </a:xfrm>
        </p:spPr>
        <p:txBody>
          <a:bodyPr/>
          <a:lstStyle/>
          <a:p>
            <a:r>
              <a:rPr lang="en-IN" dirty="0"/>
              <a:t>Future Roadmap</a:t>
            </a:r>
            <a:br>
              <a:rPr lang="en-IN" dirty="0"/>
            </a:b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8</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177783" y="2057021"/>
            <a:ext cx="2807438" cy="3966344"/>
          </a:xfrm>
        </p:spPr>
        <p:txBody>
          <a:bodyPr>
            <a:normAutofit/>
          </a:bodyPr>
          <a:lstStyle/>
          <a:p>
            <a:r>
              <a:rPr lang="en-US" sz="2000" b="1" dirty="0">
                <a:solidFill>
                  <a:srgbClr val="DF8C8C"/>
                </a:solidFill>
              </a:rPr>
              <a:t>EHR Integration &amp; IoT</a:t>
            </a:r>
          </a:p>
          <a:p>
            <a:r>
              <a:rPr lang="en-US" dirty="0">
                <a:solidFill>
                  <a:srgbClr val="DF8C8C"/>
                </a:solidFill>
              </a:rPr>
              <a:t>Seamless integration with existing hospital systems and IoT sensors for real-time data collection.</a:t>
            </a:r>
          </a:p>
          <a:p>
            <a:r>
              <a:rPr lang="en-US" dirty="0">
                <a:solidFill>
                  <a:srgbClr val="DF8C8C"/>
                </a:solidFill>
              </a:rPr>
              <a:t>ADT feed integration</a:t>
            </a:r>
          </a:p>
          <a:p>
            <a:r>
              <a:rPr lang="en-US" dirty="0">
                <a:solidFill>
                  <a:srgbClr val="DF8C8C"/>
                </a:solidFill>
              </a:rPr>
              <a:t>Bed sensor automation</a:t>
            </a:r>
          </a:p>
          <a:p>
            <a:r>
              <a:rPr lang="en-US" dirty="0">
                <a:solidFill>
                  <a:srgbClr val="DF8C8C"/>
                </a:solidFill>
              </a:rPr>
              <a:t>Real-time status updates</a:t>
            </a:r>
          </a:p>
          <a:p>
            <a:r>
              <a:rPr lang="en-US" dirty="0">
                <a:solidFill>
                  <a:srgbClr val="DF8C8C"/>
                </a:solidFill>
              </a:rPr>
              <a:t>Automated patient tracking</a:t>
            </a:r>
          </a:p>
          <a:p>
            <a:endParaRPr lang="en-US" dirty="0"/>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3327741" y="2065345"/>
            <a:ext cx="2807437" cy="3720337"/>
          </a:xfrm>
        </p:spPr>
        <p:txBody>
          <a:bodyPr>
            <a:normAutofit/>
          </a:bodyPr>
          <a:lstStyle/>
          <a:p>
            <a:r>
              <a:rPr lang="en-US" sz="2000" b="1" dirty="0"/>
              <a:t>ML-Enhanced Predictions</a:t>
            </a:r>
          </a:p>
          <a:p>
            <a:r>
              <a:rPr lang="en-US" dirty="0"/>
              <a:t>Advanced machine learning models for predictive analytics and capacity planning.</a:t>
            </a:r>
          </a:p>
          <a:p>
            <a:r>
              <a:rPr lang="en-US" dirty="0"/>
              <a:t>Arrival rate prediction</a:t>
            </a:r>
          </a:p>
          <a:p>
            <a:r>
              <a:rPr lang="en-US" dirty="0"/>
              <a:t>Length of stay forecasting</a:t>
            </a:r>
          </a:p>
          <a:p>
            <a:r>
              <a:rPr lang="en-US" dirty="0"/>
              <a:t>Resource optimization</a:t>
            </a:r>
          </a:p>
          <a:p>
            <a:r>
              <a:rPr lang="en-US" dirty="0"/>
              <a:t>Pattern recognition</a:t>
            </a:r>
          </a:p>
          <a:p>
            <a:endParaRPr lang="en-US" dirty="0"/>
          </a:p>
        </p:txBody>
      </p:sp>
      <p:sp>
        <p:nvSpPr>
          <p:cNvPr id="4" name="TextBox 3">
            <a:extLst>
              <a:ext uri="{FF2B5EF4-FFF2-40B4-BE49-F238E27FC236}">
                <a16:creationId xmlns:a16="http://schemas.microsoft.com/office/drawing/2014/main" id="{01518FF0-7DBC-0CFC-F968-BEF49E878885}"/>
              </a:ext>
            </a:extLst>
          </p:cNvPr>
          <p:cNvSpPr txBox="1"/>
          <p:nvPr/>
        </p:nvSpPr>
        <p:spPr>
          <a:xfrm>
            <a:off x="6135178" y="2057020"/>
            <a:ext cx="2807438" cy="3477875"/>
          </a:xfrm>
          <a:prstGeom prst="rect">
            <a:avLst/>
          </a:prstGeom>
          <a:noFill/>
        </p:spPr>
        <p:txBody>
          <a:bodyPr wrap="square" rtlCol="0">
            <a:spAutoFit/>
          </a:bodyPr>
          <a:lstStyle/>
          <a:p>
            <a:r>
              <a:rPr lang="en-US" sz="2000" b="1" dirty="0">
                <a:solidFill>
                  <a:srgbClr val="DF8C8C"/>
                </a:solidFill>
              </a:rPr>
              <a:t>Multi-Hospital Networks</a:t>
            </a:r>
          </a:p>
          <a:p>
            <a:r>
              <a:rPr lang="en-US" dirty="0">
                <a:solidFill>
                  <a:srgbClr val="DF8C8C"/>
                </a:solidFill>
              </a:rPr>
              <a:t>Scale to multi-facility networks with intelligent load balancing and transfers.</a:t>
            </a:r>
          </a:p>
          <a:p>
            <a:r>
              <a:rPr lang="en-US" dirty="0">
                <a:solidFill>
                  <a:srgbClr val="DF8C8C"/>
                </a:solidFill>
              </a:rPr>
              <a:t>Cross-facility coordination</a:t>
            </a:r>
          </a:p>
          <a:p>
            <a:r>
              <a:rPr lang="en-US" dirty="0">
                <a:solidFill>
                  <a:srgbClr val="DF8C8C"/>
                </a:solidFill>
              </a:rPr>
              <a:t>Patient transfer optimization</a:t>
            </a:r>
          </a:p>
          <a:p>
            <a:r>
              <a:rPr lang="en-US" dirty="0">
                <a:solidFill>
                  <a:srgbClr val="DF8C8C"/>
                </a:solidFill>
              </a:rPr>
              <a:t>Resource sharing</a:t>
            </a:r>
          </a:p>
          <a:p>
            <a:r>
              <a:rPr lang="en-US" dirty="0">
                <a:solidFill>
                  <a:srgbClr val="DF8C8C"/>
                </a:solidFill>
              </a:rPr>
              <a:t>Network-wide analytics</a:t>
            </a:r>
          </a:p>
          <a:p>
            <a:endParaRPr lang="en-IN" dirty="0"/>
          </a:p>
        </p:txBody>
      </p:sp>
    </p:spTree>
    <p:extLst>
      <p:ext uri="{BB962C8B-B14F-4D97-AF65-F5344CB8AC3E}">
        <p14:creationId xmlns:p14="http://schemas.microsoft.com/office/powerpoint/2010/main" val="246859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765974" y="652106"/>
            <a:ext cx="7631709" cy="553164"/>
          </a:xfrm>
        </p:spPr>
        <p:txBody>
          <a:bodyPr/>
          <a:lstStyle/>
          <a:p>
            <a:r>
              <a:rPr lang="en-IN" dirty="0"/>
              <a:t>Business Model</a:t>
            </a:r>
            <a:endParaRPr lang="en-US" dirty="0"/>
          </a:p>
        </p:txBody>
      </p:sp>
      <p:pic>
        <p:nvPicPr>
          <p:cNvPr id="15" name="Content Placeholder 14">
            <a:extLst>
              <a:ext uri="{FF2B5EF4-FFF2-40B4-BE49-F238E27FC236}">
                <a16:creationId xmlns:a16="http://schemas.microsoft.com/office/drawing/2014/main" id="{89766E0C-5BD2-B0FE-8BD4-FB296D3E65C8}"/>
              </a:ext>
            </a:extLst>
          </p:cNvPr>
          <p:cNvPicPr>
            <a:picLocks noGrp="1" noChangeAspect="1"/>
          </p:cNvPicPr>
          <p:nvPr>
            <p:ph sz="half" idx="15"/>
          </p:nvPr>
        </p:nvPicPr>
        <p:blipFill>
          <a:blip r:embed="rId3"/>
          <a:stretch>
            <a:fillRect/>
          </a:stretch>
        </p:blipFill>
        <p:spPr>
          <a:xfrm>
            <a:off x="8428037" y="1205270"/>
            <a:ext cx="3763963" cy="5652730"/>
          </a:xfrm>
          <a:prstGeom prst="rect">
            <a:avLst/>
          </a:prstGeom>
        </p:spPr>
      </p:pic>
      <p:pic>
        <p:nvPicPr>
          <p:cNvPr id="18" name="Content Placeholder 17">
            <a:extLst>
              <a:ext uri="{FF2B5EF4-FFF2-40B4-BE49-F238E27FC236}">
                <a16:creationId xmlns:a16="http://schemas.microsoft.com/office/drawing/2014/main" id="{01CC26EB-6AE3-6027-29ED-7492B46BABC2}"/>
              </a:ext>
            </a:extLst>
          </p:cNvPr>
          <p:cNvPicPr>
            <a:picLocks noGrp="1" noChangeAspect="1"/>
          </p:cNvPicPr>
          <p:nvPr>
            <p:ph sz="half" idx="1"/>
          </p:nvPr>
        </p:nvPicPr>
        <p:blipFill>
          <a:blip r:embed="rId4"/>
          <a:stretch>
            <a:fillRect/>
          </a:stretch>
        </p:blipFill>
        <p:spPr>
          <a:xfrm>
            <a:off x="615549" y="2951117"/>
            <a:ext cx="7556386" cy="3177833"/>
          </a:xfrm>
          <a:prstGeom prst="rect">
            <a:avLst/>
          </a:prstGeom>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
        <p:nvSpPr>
          <p:cNvPr id="16" name="TextBox 15">
            <a:extLst>
              <a:ext uri="{FF2B5EF4-FFF2-40B4-BE49-F238E27FC236}">
                <a16:creationId xmlns:a16="http://schemas.microsoft.com/office/drawing/2014/main" id="{B0D56ECA-CE49-EAAB-D27A-071B55E638B7}"/>
              </a:ext>
            </a:extLst>
          </p:cNvPr>
          <p:cNvSpPr txBox="1"/>
          <p:nvPr/>
        </p:nvSpPr>
        <p:spPr>
          <a:xfrm>
            <a:off x="765974" y="1616529"/>
            <a:ext cx="6010383" cy="923330"/>
          </a:xfrm>
          <a:prstGeom prst="rect">
            <a:avLst/>
          </a:prstGeom>
          <a:noFill/>
        </p:spPr>
        <p:txBody>
          <a:bodyPr wrap="square" rtlCol="0">
            <a:spAutoFit/>
          </a:bodyPr>
          <a:lstStyle/>
          <a:p>
            <a:r>
              <a:rPr lang="en-US" dirty="0">
                <a:solidFill>
                  <a:srgbClr val="DF8C8C"/>
                </a:solidFill>
              </a:rPr>
              <a:t>SAGE operates on a SaaS subscription model with tiered pricing for hospitals of different sizes, implementation services, and premium analytics features.</a:t>
            </a:r>
            <a:endParaRPr lang="en-IN" dirty="0">
              <a:solidFill>
                <a:srgbClr val="DF8C8C"/>
              </a:solidFill>
            </a:endParaRPr>
          </a:p>
        </p:txBody>
      </p:sp>
    </p:spTree>
    <p:extLst>
      <p:ext uri="{BB962C8B-B14F-4D97-AF65-F5344CB8AC3E}">
        <p14:creationId xmlns:p14="http://schemas.microsoft.com/office/powerpoint/2010/main" val="1941619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0" y="3813606"/>
            <a:ext cx="8847437" cy="2234642"/>
          </a:xfrm>
        </p:spPr>
        <p:txBody>
          <a:bodyPr/>
          <a:lstStyle/>
          <a:p>
            <a:r>
              <a:rPr lang="en-US" dirty="0"/>
              <a:t>Now you can visit our Website link- </a:t>
            </a:r>
            <a:br>
              <a:rPr lang="en-US" dirty="0"/>
            </a:br>
            <a:br>
              <a:rPr lang="en-US" dirty="0"/>
            </a:br>
            <a:r>
              <a:rPr lang="en-US" dirty="0"/>
              <a:t>			     </a:t>
            </a:r>
            <a:r>
              <a:rPr lang="en-US" sz="3200" dirty="0">
                <a:solidFill>
                  <a:srgbClr val="C00000"/>
                </a:solidFill>
                <a:hlinkClick r:id="rId3">
                  <a:extLst>
                    <a:ext uri="{A12FA001-AC4F-418D-AE19-62706E023703}">
                      <ahyp:hlinkClr xmlns:ahyp="http://schemas.microsoft.com/office/drawing/2018/hyperlinkcolor" val="tx"/>
                    </a:ext>
                  </a:extLst>
                </a:hlinkClick>
              </a:rPr>
              <a:t>SAGE</a:t>
            </a:r>
            <a:endParaRPr lang="en-US" sz="3200" dirty="0">
              <a:solidFill>
                <a:srgbClr val="C00000"/>
              </a:solidFill>
            </a:endParaRP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{766422A3-96D8-4FE8-B439-DE966F6C819D}TF8a9b5915-b8c7-461e-8cdd-693d48b5e32371f7b7e2_win32-4bf0b9a2ea37</Template>
  <TotalTime>213</TotalTime>
  <Words>740</Words>
  <Application>Microsoft Office PowerPoint</Application>
  <PresentationFormat>Widescreen</PresentationFormat>
  <Paragraphs>98</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Sabon Next LT</vt:lpstr>
      <vt:lpstr>Custom</vt:lpstr>
      <vt:lpstr>SAGE Smart Autonomous Hospital Digital Twin Predicting Tomorrow's Emergencies, Today</vt:lpstr>
      <vt:lpstr>The hospital crisis </vt:lpstr>
      <vt:lpstr>PowerPoint Presentation</vt:lpstr>
      <vt:lpstr>Overcoming nervousness</vt:lpstr>
      <vt:lpstr>Implemented tech stack</vt:lpstr>
      <vt:lpstr>Engaging the audience</vt:lpstr>
      <vt:lpstr>What Makes SAGE Different </vt:lpstr>
      <vt:lpstr>Future Roadmap </vt:lpstr>
      <vt:lpstr>Business Model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Sanjana B</dc:creator>
  <cp:lastModifiedBy>Sanjana B</cp:lastModifiedBy>
  <cp:revision>4</cp:revision>
  <dcterms:created xsi:type="dcterms:W3CDTF">2026-04-05T02:25:45Z</dcterms:created>
  <dcterms:modified xsi:type="dcterms:W3CDTF">2026-04-05T07:26:41Z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